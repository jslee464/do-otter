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" y="310896"/>
            <a:ext cx="11402568" cy="0"/>
          </a:xfrm>
          <a:prstGeom prst="line">
            <a:avLst/>
          </a:prstGeom>
          <a:noFill/>
          <a:ln w="12700">
            <a:solidFill>
              <a:srgbClr val="DADDD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1097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5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DO-OTTER · GROUNDED COACHING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77/1529100612453266" TargetMode="External"/><Relationship Id="rId2" Type="http://schemas.openxmlformats.org/officeDocument/2006/relationships/hyperlink" Target="https://pubmed.ncbi.nlm.nih.gov/33683913/" TargetMode="External"/><Relationship Id="rId3" Type="http://schemas.openxmlformats.org/officeDocument/2006/relationships/hyperlink" Target="https://pubmed.ncbi.nlm.nih.gov/16719566/" TargetMode="External"/><Relationship Id="rId4" Type="http://schemas.openxmlformats.org/officeDocument/2006/relationships/hyperlink" Target="https://pmc.ncbi.nlm.nih.gov/articles/PMC12189222/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pubmed.ncbi.nlm.nih.gov/31556629/" TargetMode="External"/><Relationship Id="rId2" Type="http://schemas.openxmlformats.org/officeDocument/2006/relationships/hyperlink" Target="https://educationendowmentfoundation.org.uk/education-evidence/guidance-reports/metacognition" TargetMode="External"/><Relationship Id="rId3" Type="http://schemas.openxmlformats.org/officeDocument/2006/relationships/hyperlink" Target="https://dccps.nci.nih.gov/BRP/constructs/implementation_intentions/goal_intent_attain.pdf" TargetMode="External"/><Relationship Id="rId4" Type="http://schemas.openxmlformats.org/officeDocument/2006/relationships/hyperlink" Target="https://pubmed.ncbi.nlm.nih.gov/29189034/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dictionary.apa.org/lockes-theory-of-goal-setting" TargetMode="External"/><Relationship Id="rId2" Type="http://schemas.openxmlformats.org/officeDocument/2006/relationships/hyperlink" Target="https://eprints.whiterose.ac.uk/id/eprint/91437/" TargetMode="External"/><Relationship Id="rId3" Type="http://schemas.openxmlformats.org/officeDocument/2006/relationships/hyperlink" Target="https://journals.plos.org/plosone/article?id=10.1371/journal.pone.0245066" TargetMode="External"/><Relationship Id="rId4" Type="http://schemas.openxmlformats.org/officeDocument/2006/relationships/hyperlink" Target="https://www.frontiersin.org/journals/psychology/articles/10.3389/fpsyg.2018.01588/full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pubmed.ncbi.nlm.nih.gov/26121498/" TargetMode="External"/><Relationship Id="rId2" Type="http://schemas.openxmlformats.org/officeDocument/2006/relationships/hyperlink" Target="https://www.apa.org/topics/research/multitasking" TargetMode="External"/><Relationship Id="rId3" Type="http://schemas.openxmlformats.org/officeDocument/2006/relationships/hyperlink" Target="https://pmc.ncbi.nlm.nih.gov/articles/PMC11834938/" TargetMode="External"/><Relationship Id="rId4" Type="http://schemas.openxmlformats.org/officeDocument/2006/relationships/hyperlink" Target="https://pmc.ncbi.nlm.nih.gov/articles/PMC9432722/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pubmed.ncbi.nlm.nih.gov/27366147/" TargetMode="External"/><Relationship Id="rId2" Type="http://schemas.openxmlformats.org/officeDocument/2006/relationships/hyperlink" Target="https://pubmed.ncbi.nlm.nih.gov/26361052/" TargetMode="External"/><Relationship Id="rId3" Type="http://schemas.openxmlformats.org/officeDocument/2006/relationships/hyperlink" Target="https://doi.org/10.1002/ejsp.674" TargetMode="External"/><Relationship Id="rId4" Type="http://schemas.openxmlformats.org/officeDocument/2006/relationships/hyperlink" Target="https://pubmed.ncbi.nlm.nih.gov/39685110/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pmc.ncbi.nlm.nih.gov/articles/PMC8037535/" TargetMode="External"/><Relationship Id="rId2" Type="http://schemas.openxmlformats.org/officeDocument/2006/relationships/hyperlink" Target="https://pubmed.ncbi.nlm.nih.gov/12206194/" TargetMode="External"/><Relationship Id="rId3" Type="http://schemas.openxmlformats.org/officeDocument/2006/relationships/hyperlink" Target="https://pubmed.ncbi.nlm.nih.gov/32038429/" TargetMode="External"/><Relationship Id="rId4" Type="http://schemas.openxmlformats.org/officeDocument/2006/relationships/hyperlink" Target="https://educationendowmentfoundation.org.uk/education-evidence/guidance-reports/feedback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pubmed.ncbi.nlm.nih.gov/35612886/" TargetMode="External"/><Relationship Id="rId2" Type="http://schemas.openxmlformats.org/officeDocument/2006/relationships/hyperlink" Target="https://pmc.ncbi.nlm.nih.gov/articles/PMC5526809/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6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7863840" y="-1188720"/>
            <a:ext cx="5303520" cy="5303520"/>
          </a:xfrm>
          <a:prstGeom prst="arc">
            <a:avLst/>
          </a:prstGeom>
          <a:solidFill>
            <a:srgbClr val="16846D">
              <a:alpha val="95000"/>
            </a:srgbClr>
          </a:solidFill>
          <a:ln w="12700">
            <a:solidFill>
              <a:srgbClr val="1684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4434840"/>
            <a:ext cx="2926080" cy="2926080"/>
          </a:xfrm>
          <a:prstGeom prst="ellipse">
            <a:avLst/>
          </a:prstGeom>
          <a:solidFill>
            <a:srgbClr val="D67A39">
              <a:alpha val="96000"/>
            </a:srgbClr>
          </a:solidFill>
          <a:ln w="12700">
            <a:solidFill>
              <a:srgbClr val="D67A3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57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E8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DO-OTTER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1481328"/>
            <a:ext cx="7680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답변으로 연결한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RAG 시스템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66928" y="38221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DEF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· 생산성 · 집중력 · 건강/안전을 하나의 검수된 파이프라인으로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66928" y="598932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E8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결과 및 검증 보고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8463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RAG의 역할을 의료 조언에서 ‘일상 코칭’까지 넓혔다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자산은 유지하면서 학습·생산성·집중력 상황을 근거 기반 경로로 편입했다.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9EC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828800"/>
            <a:ext cx="73152" cy="1965960"/>
          </a:xfrm>
          <a:prstGeom prst="rect">
            <a:avLst/>
          </a:prstGeom>
          <a:solidFill>
            <a:srgbClr val="0B6B57"/>
          </a:solidFill>
          <a:ln w="12700">
            <a:solidFill>
              <a:srgbClr val="0B6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121408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0B6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→ 38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67512" y="2990088"/>
            <a:ext cx="303580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 근거 문서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82880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9EC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61688" y="1828800"/>
            <a:ext cx="73152" cy="1965960"/>
          </a:xfrm>
          <a:prstGeom prst="rect">
            <a:avLst/>
          </a:prstGeom>
          <a:solidFill>
            <a:srgbClr val="D67A39"/>
          </a:solidFill>
          <a:ln w="12700">
            <a:solidFill>
              <a:srgbClr val="D67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121408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D67A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 → 35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17720" y="2990088"/>
            <a:ext cx="303580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적용 상황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02752" y="182880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9EC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02752" y="1828800"/>
            <a:ext cx="73152" cy="1965960"/>
          </a:xfrm>
          <a:prstGeom prst="rect">
            <a:avLst/>
          </a:prstGeom>
          <a:solidFill>
            <a:srgbClr val="315E7D"/>
          </a:solidFill>
          <a:ln w="12700">
            <a:solidFill>
              <a:srgbClr val="315E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58784" y="2121408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315E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+22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558784" y="2990088"/>
            <a:ext cx="303580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연결한 코칭 상황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" y="43159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확장된 주제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" y="4892040"/>
            <a:ext cx="2423160" cy="0"/>
          </a:xfrm>
          <a:prstGeom prst="line">
            <a:avLst/>
          </a:prstGeom>
          <a:noFill/>
          <a:ln w="38100">
            <a:solidFill>
              <a:srgbClr val="0B6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50749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인출·분산·교차 학습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64408" y="4892040"/>
            <a:ext cx="2423160" cy="0"/>
          </a:xfrm>
          <a:prstGeom prst="line">
            <a:avLst/>
          </a:prstGeom>
          <a:noFill/>
          <a:ln w="38100">
            <a:solidFill>
              <a:srgbClr val="D67A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50749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목표·시간관리·미루기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99048" y="4892040"/>
            <a:ext cx="2423160" cy="0"/>
          </a:xfrm>
          <a:prstGeom prst="line">
            <a:avLst/>
          </a:prstGeom>
          <a:noFill/>
          <a:ln w="38100">
            <a:solidFill>
              <a:srgbClr val="315E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9048" y="50749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알림·멀티태스킹·스마트폰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933688" y="4892040"/>
            <a:ext cx="2423160" cy="0"/>
          </a:xfrm>
          <a:prstGeom prst="line">
            <a:avLst/>
          </a:prstGeom>
          <a:noFill/>
          <a:ln w="38100">
            <a:solidFill>
              <a:srgbClr val="A33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33688" y="50749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습관·피드백·스트릭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1480" y="64190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881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lib/rag/evidence.ts · lib/rag/situations.ts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8463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시스템은 ‘상황 검수형 하이브리드 RAG’다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Do-Otter의 60개 상황 안에서 출처 통제와 안전성을 우선한 애플리케이션 전용 구조다.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80760" y="1508760"/>
            <a:ext cx="0" cy="4434840"/>
          </a:xfrm>
          <a:prstGeom prst="line">
            <a:avLst/>
          </a:prstGeom>
          <a:noFill/>
          <a:ln w="19050">
            <a:solidFill>
              <a:srgbClr val="CCD2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" y="20574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검수된 문서 38개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75488" y="2743200"/>
            <a:ext cx="507492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문서를 claim · usage · caution 레코드로 정제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상황별 허용 근거 후보군을 사람이 먼저 검수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질문으로 후보군 안의 순서만 재정렬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답변과 함께 근거 ID·출처·검색 정보를 반환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37960" y="16276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33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범위에 포함되지 않음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37960" y="205740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벡터 검색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537960" y="2743200"/>
            <a:ext cx="470916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4820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PDF를 자동 업로드·청킹하는 수집 파이프라인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4820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모델과 벡터 데이터베이스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4820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문서에서 의미 유사도로 검색하는 기능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4820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수백·수천 문서를 자동 갱신하는 인덱싱 작업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75488" y="56235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7A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이유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5577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코퍼스에서는 검색 범위를 통제하는 것이 자동 확장성보다 중요했다.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11480" y="64190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881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문서가 크게 늘면 retrieve.ts 뒤에 임베딩·pgvector 검색 계층을 추가할 수 있음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8463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프레임워크는 ‘근거 구축’과 ‘실시간 답변’의 두 단계로 작동한다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원문은 미리 검수해 저장하고, 실행 시에는 상황과 질문에 맞는 근거만 골라 생성 모델에 전달한다.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79776" y="2157984"/>
            <a:ext cx="393192" cy="384048"/>
          </a:xfrm>
          <a:prstGeom prst="chevron">
            <a:avLst/>
          </a:prstGeom>
          <a:solidFill>
            <a:srgbClr val="AEB9B4"/>
          </a:solidFill>
          <a:ln w="12700">
            <a:solidFill>
              <a:srgbClr val="AEB9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96128" y="2157984"/>
            <a:ext cx="393192" cy="384048"/>
          </a:xfrm>
          <a:prstGeom prst="chevron">
            <a:avLst/>
          </a:prstGeom>
          <a:solidFill>
            <a:srgbClr val="AEB9B4"/>
          </a:solidFill>
          <a:ln w="12700">
            <a:solidFill>
              <a:srgbClr val="AEB9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2157984"/>
            <a:ext cx="393192" cy="384048"/>
          </a:xfrm>
          <a:prstGeom prst="chevron">
            <a:avLst/>
          </a:prstGeom>
          <a:solidFill>
            <a:srgbClr val="AEB9B4"/>
          </a:solidFill>
          <a:ln w="12700">
            <a:solidFill>
              <a:srgbClr val="AEB9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01952" y="4892040"/>
            <a:ext cx="292608" cy="310896"/>
          </a:xfrm>
          <a:prstGeom prst="chevron">
            <a:avLst/>
          </a:prstGeom>
          <a:solidFill>
            <a:srgbClr val="AEB9B4"/>
          </a:solidFill>
          <a:ln w="12700">
            <a:solidFill>
              <a:srgbClr val="AEB9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8184" y="4892040"/>
            <a:ext cx="292608" cy="310896"/>
          </a:xfrm>
          <a:prstGeom prst="chevron">
            <a:avLst/>
          </a:prstGeom>
          <a:solidFill>
            <a:srgbClr val="AEB9B4"/>
          </a:solidFill>
          <a:ln w="12700">
            <a:solidFill>
              <a:srgbClr val="AEB9B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14416" y="4892040"/>
            <a:ext cx="292608" cy="310896"/>
          </a:xfrm>
          <a:prstGeom prst="chevron">
            <a:avLst/>
          </a:prstGeom>
          <a:solidFill>
            <a:srgbClr val="AEB9B4"/>
          </a:solidFill>
          <a:ln w="12700">
            <a:solidFill>
              <a:srgbClr val="AEB9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70648" y="4892040"/>
            <a:ext cx="292608" cy="310896"/>
          </a:xfrm>
          <a:prstGeom prst="chevron">
            <a:avLst/>
          </a:prstGeom>
          <a:solidFill>
            <a:srgbClr val="AEB9B4"/>
          </a:solidFill>
          <a:ln w="12700">
            <a:solidFill>
              <a:srgbClr val="AEB9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0" y="4892040"/>
            <a:ext cx="292608" cy="310896"/>
          </a:xfrm>
          <a:prstGeom prst="chevron">
            <a:avLst/>
          </a:prstGeom>
          <a:solidFill>
            <a:srgbClr val="AEB9B4"/>
          </a:solidFill>
          <a:ln w="12700">
            <a:solidFill>
              <a:srgbClr val="AEB9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444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D67A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단계 · 사람이 검수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" y="1783080"/>
            <a:ext cx="23957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9E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198424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선정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21792" y="245059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공공기관·연구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55264" y="1783080"/>
            <a:ext cx="23957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9E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38144" y="198424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정제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438144" y="245059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claim·usage·caution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71616" y="1783080"/>
            <a:ext cx="23957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9EC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198424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매핑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254496" y="245059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A상황 ↔ R근거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87968" y="1783080"/>
            <a:ext cx="2395728" cy="1234440"/>
          </a:xfrm>
          <a:prstGeom prst="roundRect">
            <a:avLst>
              <a:gd name="adj" fmla="val 5926"/>
            </a:avLst>
          </a:prstGeom>
          <a:solidFill>
            <a:srgbClr val="F2DDCA"/>
          </a:solidFill>
          <a:ln w="12700">
            <a:solidFill>
              <a:srgbClr val="E3BC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70848" y="198424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코퍼스 검증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070848" y="245059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ID·참조·출처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" y="36941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단계 · 요청마다 수행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8912" y="4160520"/>
            <a:ext cx="157276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9E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" y="431596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7A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5216" y="468172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5216" y="51663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채팅/API 이벤트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95144" y="4160520"/>
            <a:ext cx="157276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9EC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41448" y="431596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7A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41448" y="468172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441448" y="51663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+ LLM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51376" y="4160520"/>
            <a:ext cx="157276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9EC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431596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7A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97680" y="468172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297680" y="51663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상황별 근거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07608" y="4160520"/>
            <a:ext cx="157276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9EC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53912" y="431596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7A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53912" y="468172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재정렬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153912" y="51663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키워드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863840" y="4160520"/>
            <a:ext cx="157276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9EC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10144" y="431596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7A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010144" y="468172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010144" y="51663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프롬프트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720072" y="4160520"/>
            <a:ext cx="1572768" cy="1572768"/>
          </a:xfrm>
          <a:prstGeom prst="roundRect">
            <a:avLst>
              <a:gd name="adj" fmla="val 4651"/>
            </a:avLst>
          </a:prstGeom>
          <a:solidFill>
            <a:srgbClr val="CFE8DF"/>
          </a:solidFill>
          <a:ln w="12700">
            <a:solidFill>
              <a:srgbClr val="9FC9B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66376" y="431596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866376" y="468172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866376" y="51663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+ 출처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11480" y="64190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881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 표현은 실행 단계의 분류 전에 차단되어 검수된 A58 문구를 즉시 반환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8463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정확도는 ‘검수 후보군 + 질의 재정렬’로 확보했다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DB 없이도 작은 코퍼스에서 출처 통제와 재현성을 우선한 하이브리드 구조다.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148840" y="3054096"/>
            <a:ext cx="438912" cy="420624"/>
          </a:xfrm>
          <a:prstGeom prst="chevron">
            <a:avLst/>
          </a:prstGeom>
          <a:solidFill>
            <a:srgbClr val="AEB9B4"/>
          </a:solidFill>
          <a:ln w="12700">
            <a:solidFill>
              <a:srgbClr val="AEB9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16552" y="3054096"/>
            <a:ext cx="438912" cy="420624"/>
          </a:xfrm>
          <a:prstGeom prst="chevron">
            <a:avLst/>
          </a:prstGeom>
          <a:solidFill>
            <a:srgbClr val="AEB9B4"/>
          </a:solidFill>
          <a:ln w="12700">
            <a:solidFill>
              <a:srgbClr val="AEB9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84264" y="3054096"/>
            <a:ext cx="438912" cy="420624"/>
          </a:xfrm>
          <a:prstGeom prst="chevron">
            <a:avLst/>
          </a:prstGeom>
          <a:solidFill>
            <a:srgbClr val="AEB9B4"/>
          </a:solidFill>
          <a:ln w="12700">
            <a:solidFill>
              <a:srgbClr val="AEB9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51976" y="3054096"/>
            <a:ext cx="438912" cy="420624"/>
          </a:xfrm>
          <a:prstGeom prst="chevron">
            <a:avLst/>
          </a:prstGeom>
          <a:solidFill>
            <a:srgbClr val="AEB9B4"/>
          </a:solidFill>
          <a:ln w="12700">
            <a:solidFill>
              <a:srgbClr val="AEB9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920240"/>
            <a:ext cx="1856232" cy="3063240"/>
          </a:xfrm>
          <a:prstGeom prst="roundRect">
            <a:avLst>
              <a:gd name="adj" fmla="val 3941"/>
            </a:avLst>
          </a:prstGeom>
          <a:solidFill>
            <a:srgbClr val="FFFFFF"/>
          </a:solidFill>
          <a:ln w="12700">
            <a:solidFill>
              <a:srgbClr val="E9E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7A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2648" y="27614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분류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2648" y="3584448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우선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보조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79192" y="1920240"/>
            <a:ext cx="1856232" cy="3063240"/>
          </a:xfrm>
          <a:prstGeom prst="roundRect">
            <a:avLst>
              <a:gd name="adj" fmla="val 3941"/>
            </a:avLst>
          </a:prstGeom>
          <a:solidFill>
            <a:srgbClr val="FFFFFF"/>
          </a:solidFill>
          <a:ln w="12700">
            <a:solidFill>
              <a:srgbClr val="E9E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7A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80360" y="27614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 후보군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880360" y="3584448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상황별 허용된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근거만 선택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46904" y="1920240"/>
            <a:ext cx="1856232" cy="3063240"/>
          </a:xfrm>
          <a:prstGeom prst="roundRect">
            <a:avLst>
              <a:gd name="adj" fmla="val 3941"/>
            </a:avLst>
          </a:prstGeom>
          <a:solidFill>
            <a:srgbClr val="FFFFFF"/>
          </a:solidFill>
          <a:ln w="12700">
            <a:solidFill>
              <a:srgbClr val="E9E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7A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48072" y="27614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재정렬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148072" y="3584448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태그·주제·활용법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검색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14616" y="1920240"/>
            <a:ext cx="1856232" cy="3063240"/>
          </a:xfrm>
          <a:prstGeom prst="roundRect">
            <a:avLst>
              <a:gd name="adj" fmla="val 3941"/>
            </a:avLst>
          </a:prstGeom>
          <a:solidFill>
            <a:srgbClr val="FFFFFF"/>
          </a:solidFill>
          <a:ln w="12700">
            <a:solidFill>
              <a:srgbClr val="E9E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15784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7A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15784" y="27614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프롬프트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15784" y="3584448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제약과 출처를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컨텍스트로 주입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82328" y="1920240"/>
            <a:ext cx="1856232" cy="3063240"/>
          </a:xfrm>
          <a:prstGeom prst="roundRect">
            <a:avLst>
              <a:gd name="adj" fmla="val 3941"/>
            </a:avLst>
          </a:prstGeom>
          <a:solidFill>
            <a:srgbClr val="CFE8DF"/>
          </a:solidFill>
          <a:ln w="12700">
            <a:solidFill>
              <a:srgbClr val="A2CD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83496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83496" y="27614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 응답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683496" y="3584448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+ 근거 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출처 메타데이터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55778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원칙: 질의가 달라도 상황에 승인되지 않은 문서는 검색 결과에 들어오지 않는다.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" y="64190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881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구현: lib/rag/classify.ts → retrieve.ts → prompt.ts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8463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원문을 통째로 넣지 않고, 답변에 필요한 근거 단위로 정제했다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문서는 주장·적용법·주의사항과 출처 메타데이터를 가진 Evidence 레코드가 된다.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88920" y="2926080"/>
            <a:ext cx="384048" cy="384048"/>
          </a:xfrm>
          <a:prstGeom prst="chevron">
            <a:avLst/>
          </a:prstGeom>
          <a:solidFill>
            <a:srgbClr val="AEB9B4"/>
          </a:solidFill>
          <a:ln w="12700">
            <a:solidFill>
              <a:srgbClr val="AEB9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23560" y="2926080"/>
            <a:ext cx="384048" cy="384048"/>
          </a:xfrm>
          <a:prstGeom prst="chevron">
            <a:avLst/>
          </a:prstGeom>
          <a:solidFill>
            <a:srgbClr val="AEB9B4"/>
          </a:solidFill>
          <a:ln w="12700">
            <a:solidFill>
              <a:srgbClr val="AEB9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58200" y="2926080"/>
            <a:ext cx="384048" cy="384048"/>
          </a:xfrm>
          <a:prstGeom prst="chevron">
            <a:avLst/>
          </a:prstGeom>
          <a:solidFill>
            <a:srgbClr val="AEB9B4"/>
          </a:solidFill>
          <a:ln w="12700">
            <a:solidFill>
              <a:srgbClr val="AEB9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828800"/>
            <a:ext cx="2423160" cy="2971800"/>
          </a:xfrm>
          <a:prstGeom prst="roundRect">
            <a:avLst>
              <a:gd name="adj" fmla="val 3019"/>
            </a:avLst>
          </a:prstGeom>
          <a:solidFill>
            <a:srgbClr val="D8E7F0"/>
          </a:solidFill>
          <a:ln w="12700">
            <a:solidFill>
              <a:srgbClr val="D8E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57984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선정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193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공공기관·가이드라인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리뷰·메타분석 우선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423160" cy="2971800"/>
          </a:xfrm>
          <a:prstGeom prst="roundRect">
            <a:avLst>
              <a:gd name="adj" fmla="val 3019"/>
            </a:avLst>
          </a:prstGeom>
          <a:solidFill>
            <a:srgbClr val="CFE8DF"/>
          </a:solidFill>
          <a:ln w="12700">
            <a:solidFill>
              <a:srgbClr val="CFE8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157984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주장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2880360"/>
            <a:ext cx="193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답변에서 사실로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말할 수 있는 범위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80760" y="1828800"/>
            <a:ext cx="2423160" cy="2971800"/>
          </a:xfrm>
          <a:prstGeom prst="roundRect">
            <a:avLst>
              <a:gd name="adj" fmla="val 3019"/>
            </a:avLst>
          </a:prstGeom>
          <a:solidFill>
            <a:srgbClr val="F2DDCA"/>
          </a:solidFill>
          <a:ln w="12700">
            <a:solidFill>
              <a:srgbClr val="F2DD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57984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7A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지침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2880360"/>
            <a:ext cx="193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상황에서 어떤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행동으로 바꿀지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15400" y="1828800"/>
            <a:ext cx="2423160" cy="2971800"/>
          </a:xfrm>
          <a:prstGeom prst="roundRect">
            <a:avLst>
              <a:gd name="adj" fmla="val 3019"/>
            </a:avLst>
          </a:prstGeom>
          <a:solidFill>
            <a:srgbClr val="F2D7D4"/>
          </a:solidFill>
          <a:ln w="12700">
            <a:solidFill>
              <a:srgbClr val="F2D7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2157984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3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주의사항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0" y="2880360"/>
            <a:ext cx="193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일반화 한계·과장 금지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 안전 제약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" y="52852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저장되는 필드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084832" y="52303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6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domain · tags · evidenceLevel · situations · sourceTitle · publisher · year · url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64190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881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형식: lib/rag/evidence.ts의 Evidence[] — 원문 PDF/웹페이지 자체를 런타임에 다시 읽지 않음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8463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문서가 답변에 들어가는 경로를 R17로 추적할 수 있다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교차학습 메타분석은 허용된 상황에서만 후보가 되고, 질문과 맞을 때 우선순위가 올라간다.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536192"/>
            <a:ext cx="4800600" cy="4434840"/>
          </a:xfrm>
          <a:prstGeom prst="roundRect">
            <a:avLst>
              <a:gd name="adj" fmla="val 1649"/>
            </a:avLst>
          </a:prstGeom>
          <a:solidFill>
            <a:srgbClr val="17211D"/>
          </a:solidFill>
          <a:ln w="12700">
            <a:solidFill>
              <a:srgbClr val="1721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65376"/>
            <a:ext cx="4251960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CE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R17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topic: "교차 연습의 적용 조건",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evidenceLevel: "meta-analysis",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tags: ["교차학습", "문제유형", "수학"],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claim: "유사한 범주를 구별하는 학습에서…",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usage: "유형을 섞되 정답 피드백을 제공",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caution: "항상 우월하다고 일반화하지 않음"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22976" y="2331720"/>
            <a:ext cx="256032" cy="292608"/>
          </a:xfrm>
          <a:prstGeom prst="downArrow">
            <a:avLst/>
          </a:prstGeom>
          <a:solidFill>
            <a:srgbClr val="AEB9B4"/>
          </a:solidFill>
          <a:ln w="12700">
            <a:solidFill>
              <a:srgbClr val="AEB9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87568" y="17099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44768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A16 학습계획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28432" y="160020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후보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R13·R14·R15·R16·R17·R23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522976" y="3410712"/>
            <a:ext cx="256032" cy="292608"/>
          </a:xfrm>
          <a:prstGeom prst="downArrow">
            <a:avLst/>
          </a:prstGeom>
          <a:solidFill>
            <a:srgbClr val="AEB9B4"/>
          </a:solidFill>
          <a:ln w="12700">
            <a:solidFill>
              <a:srgbClr val="AEB9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27889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4768" y="27066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질문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28432" y="267919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“수학 문제 유형을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섞어서 연습하고 싶어”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522976" y="4489704"/>
            <a:ext cx="256032" cy="292608"/>
          </a:xfrm>
          <a:prstGeom prst="downArrow">
            <a:avLst/>
          </a:prstGeom>
          <a:solidFill>
            <a:srgbClr val="AEB9B4"/>
          </a:solidFill>
          <a:ln w="12700">
            <a:solidFill>
              <a:srgbClr val="AEB9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386791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7A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44768" y="37856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재정렬 결과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28432" y="3758184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태그·주제 일치로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R17이 1순위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87568" y="494690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44768" y="4864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컨텍스트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28432" y="4837176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 + usage + caution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출처를 프롬프트에 주입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11480" y="64190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881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예제: scripts/validate-rag.cjs — A16 질의에서 R17 우선순위와 후보군 제한을 assertion으로 확인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8463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38개 문서를 ‘주장·활용·주의사항’ 단위로 구조화했다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제목만 저장하지 않고 생성 단계에서 바로 사용할 수 있는 근거 레코드로 설계했다.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627632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CFE8DF"/>
          </a:solidFill>
          <a:ln w="12700">
            <a:solidFill>
              <a:srgbClr val="CFE8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3794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0" y="1837944"/>
            <a:ext cx="3337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인출연습 · 분산학습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교차학습 · 메타인지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1627632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2DDCA"/>
          </a:solidFill>
          <a:ln w="12700">
            <a:solidFill>
              <a:srgbClr val="F2DD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83794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7A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80960" y="1837944"/>
            <a:ext cx="3337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목표설정 · 진행 모니터링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시간관리 · 미루기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3593592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D8E7F0"/>
          </a:solidFill>
          <a:ln w="12700">
            <a:solidFill>
              <a:srgbClr val="D8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0390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11680" y="3803904"/>
            <a:ext cx="3337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비용 · 과제전환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 · 마이크로브레이크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80760" y="3593592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2D7D4"/>
          </a:solidFill>
          <a:ln w="12700">
            <a:solidFill>
              <a:srgbClr val="F2D7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80390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3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습관·안전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80960" y="3803904"/>
            <a:ext cx="3337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습관형성 · 피드백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 가이드 · 응급 대응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" y="56692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유형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72768" y="56418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정부·공공기관 가이드라인  |  체계적 문헌고찰·메타분석  |  무작위시험·일차 연구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1480" y="64190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881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발행기관 예: EEF, APA, NCI · 세부 URL은 evidence.ts에 기록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8463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의료와 코칭을 같은 경로에 넣되, 위험 수준은 다르게 다룬다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근거 규칙 위에 의료 전용 가드레일과 응급 하드 차단을 추가했다.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572768"/>
            <a:ext cx="53035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9EC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53328" y="1572768"/>
            <a:ext cx="5715000" cy="4251960"/>
          </a:xfrm>
          <a:prstGeom prst="roundRect">
            <a:avLst>
              <a:gd name="adj" fmla="val 1720"/>
            </a:avLst>
          </a:prstGeom>
          <a:solidFill>
            <a:srgbClr val="F2D7D4"/>
          </a:solidFill>
          <a:ln w="12700">
            <a:solidFill>
              <a:srgbClr val="E4B8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74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근거 답변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2331720"/>
            <a:ext cx="4572000" cy="2971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검색된 근거 밖의 효과·수치·인과관계를 만들지 않음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앱의 5·10·35분 기준을 과학적 최적값으로 포장하지 않음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성적·집중력 향상을 보장하거나 실패를 비난하지 않음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실행할 행동 하나를 우선 제안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82512" y="1874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33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건강·응급 상황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82512" y="2331720"/>
            <a:ext cx="4709160" cy="2971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4820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질환 진단·추정, 약물·복용량·치료법 권고 금지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4820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 지속보다 휴식·중단·도움 요청을 우선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4820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 키워드는 LLM을 거치지 않고 A58 안내를 즉시 반환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4820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실패 시에도 검수된 안전 문구로 폴백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64190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881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구현: lib/rag/prompt.ts · lib/rag/retrieve.ts · app/api/chat/route.ts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8463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API가 동일한 근거 메타데이터를 반환한다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답변뿐 아니라 디버깅·분석·출처 UI에 필요한 정보를 응답 계약에 포함했다.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572768"/>
            <a:ext cx="6675120" cy="4434840"/>
          </a:xfrm>
          <a:prstGeom prst="roundRect">
            <a:avLst>
              <a:gd name="adj" fmla="val 1649"/>
            </a:avLst>
          </a:prstGeom>
          <a:solidFill>
            <a:srgbClr val="17211D"/>
          </a:solidFill>
          <a:ln w="12700">
            <a:solidFill>
              <a:srgbClr val="1721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901952"/>
            <a:ext cx="594360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CE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"situationId": "A17",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"evidenceIds": ["R13", "R14", "R17"],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"sources": [{ "title": "…", "publisher": "…", "url": "…" }],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"retrieval": { "mode": "curated+keyword", "candidateCount": 3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5236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/api/chat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52360" y="21488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입력 분류 → 질의 재정렬 → 근거 기반 답변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52360" y="34015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D67A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/api/situation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52360" y="37673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이벤트 → 상황 근거 조회 → 개인화 알람 생성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52360" y="5303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33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오류에도 템플릿과 출처가 유지된다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64190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881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구현: app/api/chat/route.ts · app/api/situation/route.ts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8463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검증과 실제 HTTP 호출로 동작을 확인했다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검사만 통과한 것이 아니라 DeepSeek가 연결된 로컬 API 응답까지 확인했다.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627632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CFE8DF"/>
          </a:solidFill>
          <a:ln w="12700">
            <a:solidFill>
              <a:srgbClr val="CFE8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8653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7512" y="233172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무결성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" y="298094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38개 근거 · 35개 상황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ID·참조·재정렬 검증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24528" y="1627632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D8E7F0"/>
          </a:solidFill>
          <a:ln w="12700">
            <a:solidFill>
              <a:srgbClr val="D8E7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8653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315E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233172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채팅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298094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질문 → A17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R13·R14·R17 반환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37576" y="1627632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F2D7D4"/>
          </a:solidFill>
          <a:ln w="12700">
            <a:solidFill>
              <a:srgbClr val="F2D7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3608" y="18653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33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93608" y="233172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 우회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93608" y="298094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가슴통증·호흡곤란 → A58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없이 즉시 안내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4599432"/>
            <a:ext cx="11338560" cy="0"/>
          </a:xfrm>
          <a:prstGeom prst="line">
            <a:avLst/>
          </a:prstGeom>
          <a:noFill/>
          <a:ln w="25400">
            <a:solidFill>
              <a:srgbClr val="D67A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48646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7A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테스트에서 발견해 수정한 결함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481888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미입력 슬롯이 {남은 범위}처럼 노출되던 문제를 일반 표현으로 정규화하고, API 최종 응답에서도 중괄호 잔존을 차단했다.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64190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881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명령: npm run validate:rag · npx tsc --noEmit · npm run build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8463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구현은 데이터·검색·생성·API·검증으로 분리돼 있다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계층은 독립적으로 바꿀 수 있어 근거 추가나 검색기 교체가 전체 API를 흔들지 않는다.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11338560" cy="640080"/>
          </a:xfrm>
          <a:prstGeom prst="rect">
            <a:avLst/>
          </a:prstGeom>
          <a:solidFill>
            <a:srgbClr val="ECEFEA"/>
          </a:solidFill>
          <a:ln w="12700">
            <a:solidFill>
              <a:srgbClr val="ECE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636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데이터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148840" y="15636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lib/rag/evidence.ts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40680" y="15636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38개 근거와 도메인·태그·근거수준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" y="2313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매핑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48840" y="23134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lib/rag/situations.ts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40680" y="23134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35개 RAG 상황과 허용 근거 후보군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916936"/>
            <a:ext cx="11338560" cy="640080"/>
          </a:xfrm>
          <a:prstGeom prst="rect">
            <a:avLst/>
          </a:prstGeom>
          <a:solidFill>
            <a:srgbClr val="ECEFEA"/>
          </a:solidFill>
          <a:ln w="12700">
            <a:solidFill>
              <a:srgbClr val="ECEF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0632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분류·검색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48840" y="3063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classify.ts · retrieve.ts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40680" y="30632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우선 분류와 질의 재정렬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1792" y="38130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제약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148840" y="38130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lib/rag/prompt.ts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40680" y="381304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프롬프트와 의료 가드레일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4416552"/>
            <a:ext cx="11338560" cy="640080"/>
          </a:xfrm>
          <a:prstGeom prst="rect">
            <a:avLst/>
          </a:prstGeom>
          <a:solidFill>
            <a:srgbClr val="ECEFEA"/>
          </a:solidFill>
          <a:ln w="12700">
            <a:solidFill>
              <a:srgbClr val="ECEF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5628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연결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148840" y="4562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app/api/chat · situation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40680" y="456285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응답·출처·폴백 계약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1792" y="53126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검증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148840" y="53126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scripts/validate-rag.cjs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40680" y="531266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코퍼스·분류·응급·슬롯 검사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11480" y="64190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881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브랜치: feat/chatbot-rag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8463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원문 목록 1–4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RAG ID는 원문 출처와 활용 주제를 보존하며, R13 이후 항목은 제목을 클릭하면 원문으로 이동한다.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" y="1472184"/>
            <a:ext cx="82296" cy="822960"/>
          </a:xfrm>
          <a:prstGeom prst="line">
            <a:avLst/>
          </a:prstGeom>
          <a:noFill/>
          <a:ln w="63500">
            <a:solidFill>
              <a:srgbClr val="A33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  장시간 컴퓨터 작업과 미세 휴식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184708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3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A7, A59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03320" y="141732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Computer Workstations: Work Process and Recognition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192938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OSHA (OSHA) · 확인 2026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" y="2660904"/>
            <a:ext cx="82296" cy="822960"/>
          </a:xfrm>
          <a:prstGeom prst="line">
            <a:avLst/>
          </a:prstGeom>
          <a:noFill/>
          <a:ln w="63500">
            <a:solidFill>
              <a:srgbClr val="A33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6060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R2  좌식 행동과 신체활동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" y="30358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3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A7, A59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03320" y="260604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Guidelines on Physical Activity and Sedentary Behaviour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311810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(WHO) · 2020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0624" y="3849624"/>
            <a:ext cx="82296" cy="822960"/>
          </a:xfrm>
          <a:prstGeom prst="line">
            <a:avLst/>
          </a:prstGeom>
          <a:noFill/>
          <a:ln w="63500">
            <a:solidFill>
              <a:srgbClr val="A33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9476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R3  디지털 눈 피로와 화면 휴식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8368" y="42245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3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A6, A56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03320" y="379476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Healthy Vision Month Social Media Library – Digital Eye Strain and Screen Time Tips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03320" y="430682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National Eye Institute, U.S. National Institutes of Health (NEI/NIH) · 2026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0624" y="5038344"/>
            <a:ext cx="82296" cy="822960"/>
          </a:xfrm>
          <a:prstGeom prst="line">
            <a:avLst/>
          </a:prstGeom>
          <a:noFill/>
          <a:ln w="63500">
            <a:solidFill>
              <a:srgbClr val="A33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9834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R4  성인 권장 수면 시간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8368" y="541324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3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A23, A55, A60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03320" y="498348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Sleep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03320" y="549554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 (CDC) · 2024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64190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881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레코드와 URL: lib/rag/evidence.ts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8463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원문 목록 5–8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RAG ID는 원문 출처와 활용 주제를 보존하며, R13 이후 항목은 제목을 클릭하면 원문으로 이동한다.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" y="1472184"/>
            <a:ext cx="82296" cy="822960"/>
          </a:xfrm>
          <a:prstGeom prst="line">
            <a:avLst/>
          </a:prstGeom>
          <a:noFill/>
          <a:ln w="63500">
            <a:solidFill>
              <a:srgbClr val="A33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R5  카페인의 수면 영향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184708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3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A24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03320" y="141732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Caffeine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192938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European Food Safety Authority (EFSA) · 2015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" y="2660904"/>
            <a:ext cx="82296" cy="822960"/>
          </a:xfrm>
          <a:prstGeom prst="line">
            <a:avLst/>
          </a:prstGeom>
          <a:noFill/>
          <a:ln w="63500">
            <a:solidFill>
              <a:srgbClr val="A33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6060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R6  카페인 섭취량과 개인차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" y="30358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3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A24, A57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03320" y="260604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Spilling the Beans: How Much Caffeine is Too Much?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311810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U.S. Food and Drug Administration (FDA) · 확인 2026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0624" y="3849624"/>
            <a:ext cx="82296" cy="822960"/>
          </a:xfrm>
          <a:prstGeom prst="line">
            <a:avLst/>
          </a:prstGeom>
          <a:noFill/>
          <a:ln w="63500">
            <a:solidFill>
              <a:srgbClr val="A33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9476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R7  스트레스 상황의 짧은 자기조절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8368" y="42245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3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A52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03320" y="379476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Doing What Matters in Times of Stress: An Illustrated Guide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03320" y="430682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(WHO) · 2020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0624" y="5038344"/>
            <a:ext cx="82296" cy="822960"/>
          </a:xfrm>
          <a:prstGeom prst="line">
            <a:avLst/>
          </a:prstGeom>
          <a:noFill/>
          <a:ln w="63500">
            <a:solidFill>
              <a:srgbClr val="A33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9834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R8  컴퓨터 작업의 중립 자세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8368" y="541324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3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A53, A54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03320" y="498348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Computer Workstations eTool: Good Working Positions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03320" y="549554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OSHA (OSHA) · 확인 2026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64190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881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레코드와 URL: lib/rag/evidence.ts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8463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원문 목록 9–12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RAG ID는 원문 출처와 활용 주제를 보존하며, R13 이후 항목은 제목을 클릭하면 원문으로 이동한다.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" y="1472184"/>
            <a:ext cx="82296" cy="822960"/>
          </a:xfrm>
          <a:prstGeom prst="line">
            <a:avLst/>
          </a:prstGeom>
          <a:noFill/>
          <a:ln w="63500">
            <a:solidFill>
              <a:srgbClr val="A33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R9  컴퓨터 작업의 불편감과 짧은 휴식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184708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3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A53, A54, A59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03320" y="141732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Environments and Your Safety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192938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National Institute for Occupational Safety and Health (NIOSH), U.S. CDC · 확인 2026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" y="2660904"/>
            <a:ext cx="82296" cy="822960"/>
          </a:xfrm>
          <a:prstGeom prst="line">
            <a:avLst/>
          </a:prstGeom>
          <a:noFill/>
          <a:ln w="63500">
            <a:solidFill>
              <a:srgbClr val="A33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6060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R10  수면 부족과 학습 집중 기능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" y="30358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3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A55, A60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03320" y="260604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Sleep Deprivation and Deficiency: How Sleep Affects Your Health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311810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National Heart, Lung, and Blood Institute (NHLBI), U.S. NIH · 2022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0624" y="3849624"/>
            <a:ext cx="82296" cy="822960"/>
          </a:xfrm>
          <a:prstGeom prst="line">
            <a:avLst/>
          </a:prstGeom>
          <a:noFill/>
          <a:ln w="63500">
            <a:solidFill>
              <a:srgbClr val="A33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9476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R11  응급상황 경고 신호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8368" y="42245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3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A58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03320" y="379476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Recognizing Medical Emergencies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03320" y="430682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MedlinePlus, U.S. National Library of Medicine · 확인 2026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0624" y="5038344"/>
            <a:ext cx="82296" cy="822960"/>
          </a:xfrm>
          <a:prstGeom prst="line">
            <a:avLst/>
          </a:prstGeom>
          <a:noFill/>
          <a:ln w="63500">
            <a:solidFill>
              <a:srgbClr val="A33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9834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R12  대한민국 119 구급신고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8368" y="541324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3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A58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03320" y="498348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119 구급신고 요령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03320" y="549554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 소방청 · 확인 2026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64190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881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레코드와 URL: lib/rag/evidence.ts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8463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원문 목록 13–16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RAG ID는 원문 출처와 활용 주제를 보존하며, R13 이후 항목은 제목을 클릭하면 원문으로 이동한다.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" y="1472184"/>
            <a:ext cx="82296" cy="822960"/>
          </a:xfrm>
          <a:prstGeom prst="line">
            <a:avLst/>
          </a:prstGeom>
          <a:noFill/>
          <a:ln w="63500">
            <a:solidFill>
              <a:srgbClr val="0B6B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R13  효과적인 학습기법의 비교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184708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A16, A17, A28</a:t>
            </a:r>
            <a:endParaRPr lang="en-US" sz="105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3703320" y="141732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Improving Students' Learning With Effective Learning Techniques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192938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Psychological Science in the Public Interest · 2013 · review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" y="2660904"/>
            <a:ext cx="82296" cy="822960"/>
          </a:xfrm>
          <a:prstGeom prst="line">
            <a:avLst/>
          </a:prstGeom>
          <a:noFill/>
          <a:ln w="63500">
            <a:solidFill>
              <a:srgbClr val="0B6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6060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R14  교실 환경의 인출 연습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" y="30358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A16, A17, A28</a:t>
            </a:r>
            <a:endParaRPr lang="en-US" sz="105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3703320" y="260604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Testing (quizzing) boosts classroom learning: A systematic and meta-analytic review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311810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Psychological Bulletin · 2021 · meta-analysis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0624" y="3849624"/>
            <a:ext cx="82296" cy="822960"/>
          </a:xfrm>
          <a:prstGeom prst="line">
            <a:avLst/>
          </a:prstGeom>
          <a:noFill/>
          <a:ln w="63500">
            <a:solidFill>
              <a:srgbClr val="0B6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9476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R15  분산학습과 복습 간격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8368" y="42245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A16, A17, A28</a:t>
            </a:r>
            <a:endParaRPr lang="en-US" sz="1050" dirty="0"/>
          </a:p>
        </p:txBody>
      </p:sp>
      <p:sp>
        <p:nvSpPr>
          <p:cNvPr id="17" name="Text 15">
            <a:hlinkClick r:id="rId3" tooltip=""/>
          </p:cNvPr>
          <p:cNvSpPr/>
          <p:nvPr/>
        </p:nvSpPr>
        <p:spPr>
          <a:xfrm>
            <a:off x="3703320" y="379476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Distributed practice in verbal recall tasks: A review and quantitative synthesis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03320" y="430682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Psychological Bulletin · 2006 · meta-analysis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0624" y="5038344"/>
            <a:ext cx="82296" cy="822960"/>
          </a:xfrm>
          <a:prstGeom prst="line">
            <a:avLst/>
          </a:prstGeom>
          <a:noFill/>
          <a:ln w="63500">
            <a:solidFill>
              <a:srgbClr val="0B6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9834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R16  실제 수업 맥락의 분산학습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8368" y="541324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A16, A17</a:t>
            </a:r>
            <a:endParaRPr lang="en-US" sz="1050" dirty="0"/>
          </a:p>
        </p:txBody>
      </p:sp>
      <p:sp>
        <p:nvSpPr>
          <p:cNvPr id="22" name="Text 20">
            <a:hlinkClick r:id="rId4" tooltip=""/>
          </p:cNvPr>
          <p:cNvSpPr/>
          <p:nvPr/>
        </p:nvSpPr>
        <p:spPr>
          <a:xfrm>
            <a:off x="3703320" y="498348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Distributed Practice Effect on Classroom Learning: A Meta-Analytic Review of Applied Research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03320" y="549554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Behavioral Sciences · 2025 · meta-analysis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64190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881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레코드와 URL: lib/rag/evidence.ts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8463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원문 목록 17–20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RAG ID는 원문 출처와 활용 주제를 보존하며, R13 이후 항목은 제목을 클릭하면 원문으로 이동한다.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" y="1472184"/>
            <a:ext cx="82296" cy="822960"/>
          </a:xfrm>
          <a:prstGeom prst="line">
            <a:avLst/>
          </a:prstGeom>
          <a:noFill/>
          <a:ln w="63500">
            <a:solidFill>
              <a:srgbClr val="0B6B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R17  교차 연습의 적용 조건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184708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A16, A17</a:t>
            </a:r>
            <a:endParaRPr lang="en-US" sz="105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3703320" y="141732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Similarity matters: A meta-analysis of interleaved learning and its moderators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192938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Psychological Bulletin · 2019 · meta-analysis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" y="2660904"/>
            <a:ext cx="82296" cy="822960"/>
          </a:xfrm>
          <a:prstGeom prst="line">
            <a:avLst/>
          </a:prstGeom>
          <a:noFill/>
          <a:ln w="63500">
            <a:solidFill>
              <a:srgbClr val="0B6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6060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R18  메타인지와 자기조절학습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" y="30358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A15, A28, A31, A40, A41</a:t>
            </a:r>
            <a:endParaRPr lang="en-US" sz="105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3703320" y="260604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Metacognition and Self-Regulated Learning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311810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EEF (EEF) · 2025 · guideline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0624" y="3849624"/>
            <a:ext cx="82296" cy="822960"/>
          </a:xfrm>
          <a:prstGeom prst="line">
            <a:avLst/>
          </a:prstGeom>
          <a:noFill/>
          <a:ln w="63500">
            <a:solidFill>
              <a:srgbClr val="0B6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9476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R19  실행의도와 시작 계획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8368" y="42245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A2, A3, A14, A18, A29, A50, A51</a:t>
            </a:r>
            <a:endParaRPr lang="en-US" sz="1050" dirty="0"/>
          </a:p>
        </p:txBody>
      </p:sp>
      <p:sp>
        <p:nvSpPr>
          <p:cNvPr id="17" name="Text 15">
            <a:hlinkClick r:id="rId3" tooltip=""/>
          </p:cNvPr>
          <p:cNvSpPr/>
          <p:nvPr/>
        </p:nvSpPr>
        <p:spPr>
          <a:xfrm>
            <a:off x="3703320" y="379476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Implementation Intentions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03320" y="430682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NCI · 확인 2026 · review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0624" y="5038344"/>
            <a:ext cx="82296" cy="822960"/>
          </a:xfrm>
          <a:prstGeom prst="line">
            <a:avLst/>
          </a:prstGeom>
          <a:noFill/>
          <a:ln w="63500">
            <a:solidFill>
              <a:srgbClr val="0B6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9834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R20  목표 설정과 행동 변화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8368" y="541324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A4, A15, A31, A34</a:t>
            </a:r>
            <a:endParaRPr lang="en-US" sz="1050" dirty="0"/>
          </a:p>
        </p:txBody>
      </p:sp>
      <p:sp>
        <p:nvSpPr>
          <p:cNvPr id="22" name="Text 20">
            <a:hlinkClick r:id="rId4" tooltip=""/>
          </p:cNvPr>
          <p:cNvSpPr/>
          <p:nvPr/>
        </p:nvSpPr>
        <p:spPr>
          <a:xfrm>
            <a:off x="3703320" y="498348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Unique effects of setting goals on behavior change: Systematic review and meta-analysis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03320" y="549554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Journal of Consulting and Clinical Psychology · 2017 · meta-analysis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64190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881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레코드와 URL: lib/rag/evidence.ts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8463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원문 목록 21–24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RAG ID는 원문 출처와 활용 주제를 보존하며, R13 이후 항목은 제목을 클릭하면 원문으로 이동한다.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" y="1472184"/>
            <a:ext cx="82296" cy="822960"/>
          </a:xfrm>
          <a:prstGeom prst="line">
            <a:avLst/>
          </a:prstGeom>
          <a:noFill/>
          <a:ln w="63500">
            <a:solidFill>
              <a:srgbClr val="0B6B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R21  구체적 목표와 피드백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184708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A4, A11, A31, A51</a:t>
            </a:r>
            <a:endParaRPr lang="en-US" sz="105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3703320" y="141732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Locke's theory of goal setting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192938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APA Dictionary of Psychology · 2018 · review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" y="2660904"/>
            <a:ext cx="82296" cy="822960"/>
          </a:xfrm>
          <a:prstGeom prst="line">
            <a:avLst/>
          </a:prstGeom>
          <a:noFill/>
          <a:ln w="63500">
            <a:solidFill>
              <a:srgbClr val="0B6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6060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R22  진행 상황 기록과 목표 달성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" y="30358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A12, A13, A35, A40, A41</a:t>
            </a:r>
            <a:endParaRPr lang="en-US" sz="105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3703320" y="260604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Does Monitoring Goal Progress Promote Goal Attainment?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311810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Psychological Bulletin · 2016 · meta-analysis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0624" y="3849624"/>
            <a:ext cx="82296" cy="822960"/>
          </a:xfrm>
          <a:prstGeom prst="line">
            <a:avLst/>
          </a:prstGeom>
          <a:noFill/>
          <a:ln w="63500">
            <a:solidFill>
              <a:srgbClr val="0B6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9476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R23  시간관리와 학업·웰빙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8368" y="42245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A15, A16, A28, A30, A40, A41</a:t>
            </a:r>
            <a:endParaRPr lang="en-US" sz="1050" dirty="0"/>
          </a:p>
        </p:txBody>
      </p:sp>
      <p:sp>
        <p:nvSpPr>
          <p:cNvPr id="17" name="Text 15">
            <a:hlinkClick r:id="rId3" tooltip=""/>
          </p:cNvPr>
          <p:cNvSpPr/>
          <p:nvPr/>
        </p:nvSpPr>
        <p:spPr>
          <a:xfrm>
            <a:off x="3703320" y="379476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Does time management work? A meta-analysis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03320" y="430682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PLOS ONE · 2021 · meta-analysis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0624" y="5038344"/>
            <a:ext cx="82296" cy="822960"/>
          </a:xfrm>
          <a:prstGeom prst="line">
            <a:avLst/>
          </a:prstGeom>
          <a:noFill/>
          <a:ln w="63500">
            <a:solidFill>
              <a:srgbClr val="0B6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9834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R24  미루기 개입의 효과와 한계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8368" y="541324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A3, A14, A18, A29, A30, A34, A51</a:t>
            </a:r>
            <a:endParaRPr lang="en-US" sz="1050" dirty="0"/>
          </a:p>
        </p:txBody>
      </p:sp>
      <p:sp>
        <p:nvSpPr>
          <p:cNvPr id="22" name="Text 20">
            <a:hlinkClick r:id="rId4" tooltip=""/>
          </p:cNvPr>
          <p:cNvSpPr/>
          <p:nvPr/>
        </p:nvSpPr>
        <p:spPr>
          <a:xfrm>
            <a:off x="3703320" y="498348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Targeting Procrastination Using Psychological Treatments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03320" y="549554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Frontiers in Psychology · 2018 · meta-analysis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64190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881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레코드와 URL: lib/rag/evidence.ts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8463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원문 목록 25–28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RAG ID는 원문 출처와 활용 주제를 보존하며, R13 이후 항목은 제목을 클릭하면 원문으로 이동한다.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" y="1472184"/>
            <a:ext cx="82296" cy="822960"/>
          </a:xfrm>
          <a:prstGeom prst="line">
            <a:avLst/>
          </a:prstGeom>
          <a:noFill/>
          <a:ln w="63500">
            <a:solidFill>
              <a:srgbClr val="315E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R25  스마트폰 알림의 주의 비용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184708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A19, A20, A21, A22, A44</a:t>
            </a:r>
            <a:endParaRPr lang="en-US" sz="105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3703320" y="141732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attentional cost of receiving a cell phone notification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192938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Journal of Experimental Psychology: Human Perception and Performance · 2015 · primary-study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" y="2660904"/>
            <a:ext cx="82296" cy="822960"/>
          </a:xfrm>
          <a:prstGeom prst="line">
            <a:avLst/>
          </a:prstGeom>
          <a:noFill/>
          <a:ln w="63500">
            <a:solidFill>
              <a:srgbClr val="315E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6060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R26  멀티태스킹과 과제 전환 비용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" y="30358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A11, A19, A20, A21, A22, A44, A51</a:t>
            </a:r>
            <a:endParaRPr lang="en-US" sz="105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3703320" y="260604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Multitasking: Switching costs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311810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APA · 2006 · review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0624" y="3849624"/>
            <a:ext cx="82296" cy="822960"/>
          </a:xfrm>
          <a:prstGeom prst="line">
            <a:avLst/>
          </a:prstGeom>
          <a:noFill/>
          <a:ln w="63500">
            <a:solidFill>
              <a:srgbClr val="315E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9476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R27  모바일 인터넷 제한과 지속주의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8368" y="42245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A19, A20, A21, A22, A44</a:t>
            </a:r>
            <a:endParaRPr lang="en-US" sz="1050" dirty="0"/>
          </a:p>
        </p:txBody>
      </p:sp>
      <p:sp>
        <p:nvSpPr>
          <p:cNvPr id="17" name="Text 15">
            <a:hlinkClick r:id="rId3" tooltip=""/>
          </p:cNvPr>
          <p:cNvSpPr/>
          <p:nvPr/>
        </p:nvSpPr>
        <p:spPr>
          <a:xfrm>
            <a:off x="3703320" y="379476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Blocking mobile internet on smartphones improves sustained attention, mental health, and subjective well-being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03320" y="430682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PNAS Nexus · 2025 · randomized-trial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0624" y="5038344"/>
            <a:ext cx="82296" cy="822960"/>
          </a:xfrm>
          <a:prstGeom prst="line">
            <a:avLst/>
          </a:prstGeom>
          <a:noFill/>
          <a:ln w="63500">
            <a:solidFill>
              <a:srgbClr val="315E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9834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R28  짧은 휴식과 피로·수행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8368" y="541324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A5, A9, A10</a:t>
            </a:r>
            <a:endParaRPr lang="en-US" sz="1050" dirty="0"/>
          </a:p>
        </p:txBody>
      </p:sp>
      <p:sp>
        <p:nvSpPr>
          <p:cNvPr id="22" name="Text 20">
            <a:hlinkClick r:id="rId4" tooltip=""/>
          </p:cNvPr>
          <p:cNvSpPr/>
          <p:nvPr/>
        </p:nvSpPr>
        <p:spPr>
          <a:xfrm>
            <a:off x="3703320" y="498348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Give me a break! A systematic review and meta-analysis on the efficacy of micro-breaks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03320" y="549554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PLOS ONE · 2022 · meta-analysis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64190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881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레코드와 URL: lib/rag/evidence.ts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8463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원문 목록 29–32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RAG ID는 원문 출처와 활용 주제를 보존하며, R13 이후 항목은 제목을 클릭하면 원문으로 이동한다.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" y="1472184"/>
            <a:ext cx="82296" cy="822960"/>
          </a:xfrm>
          <a:prstGeom prst="line">
            <a:avLst/>
          </a:prstGeom>
          <a:noFill/>
          <a:ln w="63500">
            <a:solidFill>
              <a:srgbClr val="315E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R29  푸시 알림과 과제 수행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184708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A19, A20, A21, A22, A44</a:t>
            </a:r>
            <a:endParaRPr lang="en-US" sz="105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3703320" y="141732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 Analysis of the Effects of Smartphone Push Notifications on Task Performance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192938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Computational Intelligence and Neuroscience · 2016 · primary-study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" y="2660904"/>
            <a:ext cx="82296" cy="822960"/>
          </a:xfrm>
          <a:prstGeom prst="line">
            <a:avLst/>
          </a:prstGeom>
          <a:noFill/>
          <a:ln w="63500">
            <a:solidFill>
              <a:srgbClr val="D67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6060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R30  습관과 안정된 맥락의 반복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" y="30358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7A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A18, A37, A38, A39</a:t>
            </a:r>
            <a:endParaRPr lang="en-US" sz="105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3703320" y="260604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Psychology of Habit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311810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Annual Review of Psychology · 2016 · review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0624" y="3849624"/>
            <a:ext cx="82296" cy="822960"/>
          </a:xfrm>
          <a:prstGeom prst="line">
            <a:avLst/>
          </a:prstGeom>
          <a:noFill/>
          <a:ln w="63500">
            <a:solidFill>
              <a:srgbClr val="D67A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9476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R31  일상에서의 습관 형성 과정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8368" y="42245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7A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A18, A37, A38, A39</a:t>
            </a:r>
            <a:endParaRPr lang="en-US" sz="1050" dirty="0"/>
          </a:p>
        </p:txBody>
      </p:sp>
      <p:sp>
        <p:nvSpPr>
          <p:cNvPr id="17" name="Text 15">
            <a:hlinkClick r:id="rId3" tooltip=""/>
          </p:cNvPr>
          <p:cNvSpPr/>
          <p:nvPr/>
        </p:nvSpPr>
        <p:spPr>
          <a:xfrm>
            <a:off x="3703320" y="379476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are habits formed: Modelling habit formation in the real world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03320" y="430682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European Journal of Social Psychology · 2010 · primary-study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0624" y="5038344"/>
            <a:ext cx="82296" cy="822960"/>
          </a:xfrm>
          <a:prstGeom prst="line">
            <a:avLst/>
          </a:prstGeom>
          <a:noFill/>
          <a:ln w="63500">
            <a:solidFill>
              <a:srgbClr val="D67A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9834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R32  습관 형성 기간의 개인차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8368" y="541324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7A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A37, A38, A39</a:t>
            </a:r>
            <a:endParaRPr lang="en-US" sz="1050" dirty="0"/>
          </a:p>
        </p:txBody>
      </p:sp>
      <p:sp>
        <p:nvSpPr>
          <p:cNvPr id="22" name="Text 20">
            <a:hlinkClick r:id="rId4" tooltip=""/>
          </p:cNvPr>
          <p:cNvSpPr/>
          <p:nvPr/>
        </p:nvSpPr>
        <p:spPr>
          <a:xfrm>
            <a:off x="3703320" y="498348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Time to Form a Habit: A Systematic Review and Meta-Analysis of Health Behaviour Habit Formation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03320" y="549554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Healthcare · 2024 · systematic-review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64190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881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레코드와 URL: lib/rag/evidence.ts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8463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원문 목록 33–36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RAG ID는 원문 출처와 활용 주제를 보존하며, R13 이후 항목은 제목을 클릭하면 원문으로 이동한다.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" y="1472184"/>
            <a:ext cx="82296" cy="822960"/>
          </a:xfrm>
          <a:prstGeom prst="line">
            <a:avLst/>
          </a:prstGeom>
          <a:noFill/>
          <a:ln w="63500">
            <a:solidFill>
              <a:srgbClr val="D67A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R33  교육 게이미피케이션과 행동 변화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184708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7A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A45, A46, A47, A48, A49</a:t>
            </a:r>
            <a:endParaRPr lang="en-US" sz="105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3703320" y="141732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Effects of Gamification on Behavioral Change in Education: A Meta-Analysis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192938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International Journal of Environmental Research and Public Health · 2021 · meta-analysis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" y="2660904"/>
            <a:ext cx="82296" cy="822960"/>
          </a:xfrm>
          <a:prstGeom prst="line">
            <a:avLst/>
          </a:prstGeom>
          <a:noFill/>
          <a:ln w="63500">
            <a:solidFill>
              <a:srgbClr val="D67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6060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R34  칭찬의 내용과 내재적 동기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" y="30358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7A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A12, A13, A37, A38, A42, A43, A45, A46, A47, A48, A49</a:t>
            </a:r>
            <a:endParaRPr lang="en-US" sz="105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3703320" y="260604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effects of praise on children's intrinsic motivation: a review and synthesis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311810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Psychological Bulletin · 2002 · review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0624" y="3849624"/>
            <a:ext cx="82296" cy="822960"/>
          </a:xfrm>
          <a:prstGeom prst="line">
            <a:avLst/>
          </a:prstGeom>
          <a:noFill/>
          <a:ln w="63500">
            <a:solidFill>
              <a:srgbClr val="0B6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9476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R35  학습 피드백의 효과와 내용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8368" y="42245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A12, A13, A33, A35, A40, A41, A42, A43</a:t>
            </a:r>
            <a:endParaRPr lang="en-US" sz="1050" dirty="0"/>
          </a:p>
        </p:txBody>
      </p:sp>
      <p:sp>
        <p:nvSpPr>
          <p:cNvPr id="17" name="Text 15">
            <a:hlinkClick r:id="rId3" tooltip=""/>
          </p:cNvPr>
          <p:cNvSpPr/>
          <p:nvPr/>
        </p:nvSpPr>
        <p:spPr>
          <a:xfrm>
            <a:off x="3703320" y="379476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Power of Feedback Revisited: A Meta-Analysis of Educational Feedback Research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03320" y="430682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Frontiers in Psychology · 2020 · meta-analysis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0624" y="5038344"/>
            <a:ext cx="82296" cy="822960"/>
          </a:xfrm>
          <a:prstGeom prst="line">
            <a:avLst/>
          </a:prstGeom>
          <a:noFill/>
          <a:ln w="63500">
            <a:solidFill>
              <a:srgbClr val="0B6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9834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R36  효과적인 학습 피드백 지침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8368" y="541324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A12, A13, A40</a:t>
            </a:r>
            <a:endParaRPr lang="en-US" sz="1050" dirty="0"/>
          </a:p>
        </p:txBody>
      </p:sp>
      <p:sp>
        <p:nvSpPr>
          <p:cNvPr id="22" name="Text 20">
            <a:hlinkClick r:id="rId4" tooltip=""/>
          </p:cNvPr>
          <p:cNvSpPr/>
          <p:nvPr/>
        </p:nvSpPr>
        <p:spPr>
          <a:xfrm>
            <a:off x="3703320" y="498348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Teacher Feedback to Improve Pupil Learning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03320" y="549554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EEF (EEF) · 2021 · guideline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64190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881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레코드와 URL: lib/rag/evidence.ts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84632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원문 목록 37–38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RAG ID는 원문 출처와 활용 주제를 보존하며, R13 이후 항목은 제목을 클릭하면 원문으로 이동한다.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" y="1472184"/>
            <a:ext cx="82296" cy="822960"/>
          </a:xfrm>
          <a:prstGeom prst="line">
            <a:avLst/>
          </a:prstGeom>
          <a:noFill/>
          <a:ln w="63500">
            <a:solidFill>
              <a:srgbClr val="0B6B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R37  개인화 알림과 앱 지속 사용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184708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A50</a:t>
            </a:r>
            <a:endParaRPr lang="en-US" sz="105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3703320" y="141732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Factors Influencing Adherence to mHealth Apps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192938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Journal of Medical Internet Research · 2022 · systematic-review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" y="2660904"/>
            <a:ext cx="82296" cy="822960"/>
          </a:xfrm>
          <a:prstGeom prst="line">
            <a:avLst/>
          </a:prstGeom>
          <a:noFill/>
          <a:ln w="63500">
            <a:solidFill>
              <a:srgbClr val="0B6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6060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1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R38  리마인더와 알림 피로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" y="30358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A50</a:t>
            </a:r>
            <a:endParaRPr lang="en-US" sz="105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3703320" y="2606040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315E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Conceptualising engagement with digital behaviour change interventions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311810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3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Translational Behavioral Medicine · 2017 · systematic-review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64190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881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레코드와 URL: lib/rag/evidence.ts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27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FE8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335024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가능한 RAG v1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2542032"/>
            <a:ext cx="8138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6DE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검수된 근거만 사용하고, 실제 질문에 맞춰 순서를 바꾸며,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6DE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위험한 상황은 생성 모델보다 안전 규칙이 먼저 처리한다.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66928" y="4709160"/>
            <a:ext cx="3063240" cy="0"/>
          </a:xfrm>
          <a:prstGeom prst="line">
            <a:avLst/>
          </a:prstGeom>
          <a:noFill/>
          <a:ln w="38100">
            <a:solidFill>
              <a:srgbClr val="0B6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9651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근거별 평가셋 확대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70248" y="4709160"/>
            <a:ext cx="3063240" cy="0"/>
          </a:xfrm>
          <a:prstGeom prst="line">
            <a:avLst/>
          </a:prstGeom>
          <a:noFill/>
          <a:ln w="38100">
            <a:solidFill>
              <a:srgbClr val="D67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0248" y="49651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검색·답변 품질 로그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73568" y="4709160"/>
            <a:ext cx="3063240" cy="0"/>
          </a:xfrm>
          <a:prstGeom prst="line">
            <a:avLst/>
          </a:prstGeom>
          <a:noFill/>
          <a:ln w="38100">
            <a:solidFill>
              <a:srgbClr val="315E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73568" y="49651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UI와 사용자 피드백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1722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0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Do-Otter · feat/chatbot-rag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Do-Otter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Do-Otter RAG System</dc:title>
  <dc:subject>Do-Otter 통합 RAG 시스템 개발 결과</dc:subject>
  <dc:creator>Do-Otter</dc:creator>
  <cp:lastModifiedBy>Do-Otter</cp:lastModifiedBy>
  <cp:revision>1</cp:revision>
  <dcterms:created xsi:type="dcterms:W3CDTF">2026-08-13T12:56:00Z</dcterms:created>
  <dcterms:modified xsi:type="dcterms:W3CDTF">2026-08-13T12:56:00Z</dcterms:modified>
</cp:coreProperties>
</file>