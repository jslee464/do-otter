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10896"/>
            <a:ext cx="11402568" cy="0"/>
          </a:xfrm>
          <a:prstGeom prst="line">
            <a:avLst/>
          </a:prstGeom>
          <a:noFill/>
          <a:ln w="12700">
            <a:solidFill>
              <a:srgbClr val="DADD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0972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5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DO-OTTER · GROUNDED COACHING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6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7863840" y="-1188720"/>
            <a:ext cx="5303520" cy="5303520"/>
          </a:xfrm>
          <a:prstGeom prst="arc">
            <a:avLst/>
          </a:prstGeom>
          <a:solidFill>
            <a:srgbClr val="16846D">
              <a:alpha val="95000"/>
            </a:srgbClr>
          </a:solidFill>
          <a:ln w="12700">
            <a:solidFill>
              <a:srgbClr val="16846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4434840"/>
            <a:ext cx="2926080" cy="2926080"/>
          </a:xfrm>
          <a:prstGeom prst="ellipse">
            <a:avLst/>
          </a:prstGeom>
          <a:solidFill>
            <a:srgbClr val="D67A39">
              <a:alpha val="96000"/>
            </a:srgbClr>
          </a:solidFill>
          <a:ln w="12700">
            <a:solidFill>
              <a:srgbClr val="D67A3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4572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FE8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DO-OTTER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0352" y="1481328"/>
            <a:ext cx="7680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근거를 답변으로 연결한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RAG 시스템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566928" y="38221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DEF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· 생산성 · 집중력 · 건강/안전을 하나의 검수된 파이프라인으로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6928" y="5989320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E8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결과 및 검증 보고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RAG의 역할을 의료 조언에서 ‘일상 코칭’까지 넓혔다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자산은 유지하면서 학습·생산성·집중력 상황을 근거 기반 경로로 편입했다.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828800"/>
            <a:ext cx="73152" cy="1965960"/>
          </a:xfrm>
          <a:prstGeom prst="rect">
            <a:avLst/>
          </a:prstGeom>
          <a:solidFill>
            <a:srgbClr val="0B6B57"/>
          </a:solidFill>
          <a:ln w="12700">
            <a:solidFill>
              <a:srgbClr val="0B6B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12140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0B6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 → 38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67512" y="2990088"/>
            <a:ext cx="3035808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근거 문서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1688" y="1828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61688" y="1828800"/>
            <a:ext cx="73152" cy="1965960"/>
          </a:xfrm>
          <a:prstGeom prst="rect">
            <a:avLst/>
          </a:prstGeom>
          <a:solidFill>
            <a:srgbClr val="D67A39"/>
          </a:solidFill>
          <a:ln w="12700">
            <a:solidFill>
              <a:srgbClr val="D67A3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12140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D67A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 → 35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17720" y="2990088"/>
            <a:ext cx="3035808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적용 상황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302752" y="1828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1828800"/>
            <a:ext cx="73152" cy="1965960"/>
          </a:xfrm>
          <a:prstGeom prst="rect">
            <a:avLst/>
          </a:prstGeom>
          <a:solidFill>
            <a:srgbClr val="315E7D"/>
          </a:solidFill>
          <a:ln w="12700">
            <a:solidFill>
              <a:srgbClr val="315E7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12140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315E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+22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558784" y="2990088"/>
            <a:ext cx="3035808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연결한 코칭 상황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" y="43159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확장된 주제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9768" y="4892040"/>
            <a:ext cx="2423160" cy="0"/>
          </a:xfrm>
          <a:prstGeom prst="line">
            <a:avLst/>
          </a:prstGeom>
          <a:noFill/>
          <a:ln w="38100">
            <a:solidFill>
              <a:srgbClr val="0B6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5074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인출·분산·교차 학습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64408" y="4892040"/>
            <a:ext cx="2423160" cy="0"/>
          </a:xfrm>
          <a:prstGeom prst="line">
            <a:avLst/>
          </a:prstGeom>
          <a:noFill/>
          <a:ln w="38100">
            <a:solidFill>
              <a:srgbClr val="D67A3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5074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목표·시간관리·미루기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099048" y="4892040"/>
            <a:ext cx="2423160" cy="0"/>
          </a:xfrm>
          <a:prstGeom prst="line">
            <a:avLst/>
          </a:prstGeom>
          <a:noFill/>
          <a:ln w="38100">
            <a:solidFill>
              <a:srgbClr val="315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99048" y="5074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알림·멀티태스킹·스마트폰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933688" y="4892040"/>
            <a:ext cx="2423160" cy="0"/>
          </a:xfrm>
          <a:prstGeom prst="line">
            <a:avLst/>
          </a:prstGeom>
          <a:noFill/>
          <a:ln w="38100">
            <a:solidFill>
              <a:srgbClr val="A33B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33688" y="5074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습관·피드백·스트릭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lib/rag/evidence.ts · lib/rag/situations.ts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정확도는 ‘검수 후보군 + 질의 재정렬’로 확보했다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DB 없이도 작은 코퍼스에서 출처 통제와 재현성을 우선한 하이브리드 구조다.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148840" y="3054096"/>
            <a:ext cx="438912" cy="420624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16552" y="3054096"/>
            <a:ext cx="438912" cy="420624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84264" y="3054096"/>
            <a:ext cx="438912" cy="420624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51976" y="3054096"/>
            <a:ext cx="438912" cy="420624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2648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분류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2648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우선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보조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79192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0360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80360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후보군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880360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상황별 허용된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근거만 선택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46904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48072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48072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 재정렬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148072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태그·주제·활용법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검색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14616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15784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프롬프트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15784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제약과 출처를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컨텍스트로 주입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82328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CFE8DF"/>
          </a:solidFill>
          <a:ln w="12700">
            <a:solidFill>
              <a:srgbClr val="A2CD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83496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83496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구조화 응답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83496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+ 근거 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출처 메타데이터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8912" y="557784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원칙: 질의가 달라도 상황에 승인되지 않은 문서는 검색 결과에 들어오지 않는다.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구현: lib/rag/classify.ts → retrieve.ts → prompt.ts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38개 문서를 ‘주장·활용·주의사항’ 단위로 구조화했다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제목만 저장하지 않고 생성 단계에서 바로 사용할 수 있는 근거 레코드로 설계했다.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627632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CFE8DF"/>
          </a:solidFill>
          <a:ln w="12700">
            <a:solidFill>
              <a:srgbClr val="CFE8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3794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011680" y="1837944"/>
            <a:ext cx="3337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인출연습 · 분산학습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교차학습 · 메타인지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627632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2DDCA"/>
          </a:solidFill>
          <a:ln w="12700">
            <a:solidFill>
              <a:srgbClr val="F2DD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83794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680960" y="1837944"/>
            <a:ext cx="3337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목표설정 · 진행 모니터링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시간관리 · 미루기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3593592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D8E7F0"/>
          </a:solidFill>
          <a:ln w="12700">
            <a:solidFill>
              <a:srgbClr val="D8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80390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집중력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11680" y="3803904"/>
            <a:ext cx="3337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비용 · 과제전환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스마트폰 · 마이크로브레이크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593592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2D7D4"/>
          </a:solidFill>
          <a:ln w="12700">
            <a:solidFill>
              <a:srgbClr val="F2D7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80390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습관·안전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80960" y="3803904"/>
            <a:ext cx="3337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습관형성 · 피드백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 가이드 · 응급 대응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8912" y="566928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유형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572768" y="56418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정부·공공기관 가이드라인  |  체계적 문헌고찰·메타분석  |  무작위시험·일차 연구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발행기관 예: EEF, APA, NCI · 세부 URL은 evidence.ts에 기록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의료와 코칭을 같은 경로에 넣되, 위험 수준은 다르게 다룬다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근거 규칙 위에 의료 전용 가드레일과 응급 하드 차단을 추가했다.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572768"/>
            <a:ext cx="530352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53328" y="1572768"/>
            <a:ext cx="5715000" cy="4251960"/>
          </a:xfrm>
          <a:prstGeom prst="roundRect">
            <a:avLst>
              <a:gd name="adj" fmla="val 1720"/>
            </a:avLst>
          </a:prstGeom>
          <a:solidFill>
            <a:srgbClr val="F2D7D4"/>
          </a:solidFill>
          <a:ln w="12700">
            <a:solidFill>
              <a:srgbClr val="E4B8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74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근거 답변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4572000" cy="2971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 근거 밖의 효과·수치·인과관계를 만들지 않음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앱의 5·10·35분 기준을 과학적 최적값으로 포장하지 않음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성적·집중력 향상을 보장하거나 실패를 비난하지 않음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실행할 행동 하나를 우선 제안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건강·응급 상황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82512" y="2331720"/>
            <a:ext cx="4709160" cy="2971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4820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질환 진단·추정, 약물·복용량·치료법 권고 금지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4820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 지속보다 휴식·중단·도움 요청을 우선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4820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 키워드는 LLM을 거치지 않고 A58 안내를 즉시 반환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4820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실패 시에도 검수된 안전 문구로 폴백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구현: lib/rag/prompt.ts · lib/rag/retrieve.ts · app/api/chat/route.ts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API가 동일한 근거 메타데이터를 반환한다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답변뿐 아니라 디버깅·분석·출처 UI에 필요한 정보를 응답 계약에 포함했다.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572768"/>
            <a:ext cx="6675120" cy="4434840"/>
          </a:xfrm>
          <a:prstGeom prst="roundRect">
            <a:avLst>
              <a:gd name="adj" fmla="val 1649"/>
            </a:avLst>
          </a:prstGeom>
          <a:solidFill>
            <a:srgbClr val="17211D"/>
          </a:solidFill>
          <a:ln w="12700">
            <a:solidFill>
              <a:srgbClr val="1721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901952"/>
            <a:ext cx="594360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"situationId": "A17",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"evidenceIds": ["R13", "R14", "R17"],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"sources": [{ "title": "…", "publisher": "…", "url": "…" }],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"retrieval": { "mode": "curated+keyword", "candidateCount": 3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52360" y="1783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/api/chat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45236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입력 분류 → 질의 재정렬 → 근거 기반 답변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52360" y="34015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/api/situation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452360" y="376732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이벤트 → 상황 근거 조회 → 개인화 알람 생성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52360" y="5303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오류에도 템플릿과 출처가 유지된다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구현: app/api/chat/route.ts · app/api/situation/route.ts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검증과 실제 HTTP 호출로 동작을 확인했다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검사만 통과한 것이 아니라 DeepSeek가 연결된 로컬 API 응답까지 확인했다.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627632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CFE8DF"/>
          </a:solidFill>
          <a:ln w="12700">
            <a:solidFill>
              <a:srgbClr val="CFE8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B6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" y="23317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무결성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7512" y="298094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38개 근거 · 35개 상황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ID·참조·재정렬 검증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1627632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D8E7F0"/>
          </a:solidFill>
          <a:ln w="12700">
            <a:solidFill>
              <a:srgbClr val="D8E7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315E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23317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채팅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298094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질문 → A17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R13·R14·R17 반환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37576" y="1627632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F2D7D4"/>
          </a:solidFill>
          <a:ln w="12700">
            <a:solidFill>
              <a:srgbClr val="F2D7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3608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33B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93608" y="23317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 우회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93608" y="298094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가슴통증·호흡곤란 → A58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없이 즉시 안내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" y="4599432"/>
            <a:ext cx="11338560" cy="0"/>
          </a:xfrm>
          <a:prstGeom prst="line">
            <a:avLst/>
          </a:prstGeom>
          <a:noFill/>
          <a:ln w="25400">
            <a:solidFill>
              <a:srgbClr val="D67A3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" y="4864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테스트에서 발견해 수정한 결함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481888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미입력 슬롯이 {남은 범위}처럼 노출되던 문제를 일반 표현으로 정규화하고, API 최종 응답에서도 중괄호 잔존을 차단했다.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명령: npm run validate:rag · npx tsc --noEmit · npm run build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구현은 데이터·검색·생성·API·검증으로 분리돼 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계층은 독립적으로 바꿀 수 있어 근거 추가나 검색기 교체가 전체 API를 흔들지 않는다.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11338560" cy="640080"/>
          </a:xfrm>
          <a:prstGeom prst="rect">
            <a:avLst/>
          </a:prstGeom>
          <a:solidFill>
            <a:srgbClr val="ECEFEA"/>
          </a:solidFill>
          <a:ln w="12700">
            <a:solidFill>
              <a:srgbClr val="ECE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6362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데이터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148840" y="15636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lib/rag/evidence.ts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40680" y="15636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38개 근거와 도메인·태그·근거수준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21792" y="2313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매핑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48840" y="23134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lib/rag/situations.ts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40680" y="231343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35개 RAG 상황과 허용 근거 후보군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2916936"/>
            <a:ext cx="11338560" cy="640080"/>
          </a:xfrm>
          <a:prstGeom prst="rect">
            <a:avLst/>
          </a:prstGeom>
          <a:solidFill>
            <a:srgbClr val="ECEFEA"/>
          </a:solidFill>
          <a:ln w="12700">
            <a:solidFill>
              <a:srgbClr val="ECE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306324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분류·검색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48840" y="30632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classify.ts · retrieve.ts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40680" y="306324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우선 분류와 질의 재정렬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1792" y="38130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제약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48840" y="38130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lib/rag/prompt.ts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40680" y="381304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프롬프트와 의료 가드레일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480" y="4416552"/>
            <a:ext cx="11338560" cy="640080"/>
          </a:xfrm>
          <a:prstGeom prst="rect">
            <a:avLst/>
          </a:prstGeom>
          <a:solidFill>
            <a:srgbClr val="ECEFEA"/>
          </a:solidFill>
          <a:ln w="12700">
            <a:solidFill>
              <a:srgbClr val="ECEF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56285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148840" y="4562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app/api/chat · situation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40680" y="456285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응답·출처·폴백 계약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1792" y="53126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검증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148840" y="53126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scripts/validate-rag.cjs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40680" y="531266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코퍼스·분류·응급·슬롯 검사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브랜치: feat/chatbot-rag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CFE8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33502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가능한 RAG v1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66928" y="2542032"/>
            <a:ext cx="81381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6DE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검수된 근거만 사용하고, 실제 질문에 맞춰 순서를 바꾸며,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D6DE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위험한 상황은 생성 모델보다 안전 규칙이 먼저 처리한다.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4709160"/>
            <a:ext cx="3063240" cy="0"/>
          </a:xfrm>
          <a:prstGeom prst="line">
            <a:avLst/>
          </a:prstGeom>
          <a:noFill/>
          <a:ln w="38100">
            <a:solidFill>
              <a:srgbClr val="0B6B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4965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근거별 평가셋 확대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0248" y="4709160"/>
            <a:ext cx="3063240" cy="0"/>
          </a:xfrm>
          <a:prstGeom prst="line">
            <a:avLst/>
          </a:prstGeom>
          <a:noFill/>
          <a:ln w="38100">
            <a:solidFill>
              <a:srgbClr val="D67A3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0248" y="4965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검색·답변 품질 로그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73568" y="4709160"/>
            <a:ext cx="3063240" cy="0"/>
          </a:xfrm>
          <a:prstGeom prst="line">
            <a:avLst/>
          </a:prstGeom>
          <a:noFill/>
          <a:ln w="38100">
            <a:solidFill>
              <a:srgbClr val="315E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3568" y="4965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UI와 사용자 피드백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61722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EA0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Do-Otter · feat/chatbot-rag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Do-Otter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Do-Otter RAG System</dc:title>
  <dc:subject>Do-Otter 통합 RAG 시스템 개발 결과</dc:subject>
  <dc:creator>Do-Otter</dc:creator>
  <cp:lastModifiedBy>Do-Otter</cp:lastModifiedBy>
  <cp:revision>1</cp:revision>
  <dcterms:created xsi:type="dcterms:W3CDTF">2026-08-13T12:35:02Z</dcterms:created>
  <dcterms:modified xsi:type="dcterms:W3CDTF">2026-08-13T12:35:02Z</dcterms:modified>
</cp:coreProperties>
</file>